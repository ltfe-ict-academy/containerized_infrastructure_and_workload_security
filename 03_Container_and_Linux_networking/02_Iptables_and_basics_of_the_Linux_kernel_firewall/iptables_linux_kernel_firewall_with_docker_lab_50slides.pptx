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27: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28: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29: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30: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31: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32: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33: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34: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35: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36: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37: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38: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39: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40: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41: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42: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43: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44: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45: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46: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47: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48: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49: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50: Explain the concept briefly, then relate it to the Docker lab and the packet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clean_high_detail_vector_illustration_style_t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502920"/>
            <a:ext cx="5394960" cy="30362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9144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2647"/>
                </a:solidFill>
              </a:defRPr>
            </a:pPr>
            <a:r>
              <a:t>Iptables and Basics of the Linux Kernel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B687C"/>
                </a:solidFill>
              </a:defRPr>
            </a:pPr>
            <a:r>
              <a:t>Netfilter, packet traversal, stateful firewalling, NAT and Docker traffic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74920"/>
            <a:ext cx="5303520" cy="64008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Practical lab: continue the Docker bridge example with nginx, published ports and firewall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A firewall-focused continuation of the container networking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Kernel firewall architecture: Netfilter, iptables and nftables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Packet traversal: INPUT, FORWARD, OUTPUT, PREROUTING, POSTROUTING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Filtering: chains, tables, rule order and default policies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Stateful firewalling: conntrack states and session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NAT: SNAT, MASQUERADE, DNAT and Docker port publishing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0916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Practical lab: secure and troubleshoot a Docker nginx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What you should be able to do after this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Draw the Linux firewall packet path from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Know which chain to inspect for host, forwarded and container traffic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Read basic iptables rules and iptables-save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Build a simple stateful host firewall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Explain how Docker uses NAT and FORWARD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0916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Troubleshoot a published container port using iptables, conntrack and tcpdump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Recap: container networking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920240"/>
            <a:ext cx="1737360" cy="82296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Container</a:t>
            </a:r>
            <a:br/>
            <a:r>
              <a:t>namespace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2029968"/>
            <a:ext cx="1097280" cy="59436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veth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920240"/>
            <a:ext cx="1645920" cy="82296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Linux</a:t>
            </a:r>
            <a:br/>
            <a:r>
              <a:t>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783080"/>
            <a:ext cx="2103120" cy="109728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300" b="1">
                <a:solidFill>
                  <a:srgbClr val="141C26"/>
                </a:solidFill>
              </a:defRPr>
            </a:pPr>
            <a:r>
              <a:t>host routing</a:t>
            </a:r>
            <a:br/>
            <a:r>
              <a:t>+ firewall/NAT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920240"/>
            <a:ext cx="1463040" cy="82296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physical</a:t>
            </a:r>
            <a:br/>
            <a:r>
              <a:t>NIC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331720"/>
            <a:ext cx="45720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69080" y="2331720"/>
            <a:ext cx="45720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2331720"/>
            <a:ext cx="45720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32520" y="2331720"/>
            <a:ext cx="45720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251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2647"/>
                </a:solidFill>
              </a:defRPr>
            </a:pPr>
            <a:r>
              <a:t>This deck zooms into the host routing + firewall/NAT 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Why Linux firewalling matters for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A container problem is often a Linux firewall path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Containers use Linux networking primitives, not a separate network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Docker creates firewall and NAT rules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Published ports are implemented through kernel packet traversal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Outbound container Internet access commonly depends on MASQUERADE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Troubleshooting requires knowing where packets hit firewall chains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Netfilter: the kernel firewall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Do not think of iptables as the firewall engine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Netfilter is built into the Linux kernel packet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It provides packet filtering, NAT, mangling and connection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iptables is a user-space tool that configures Netfilter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nftables is the modern framework that is replacing iptables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The kernel processes packets; tools only configure the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Tooling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2588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iptables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classic rule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filtering and NAT examples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iptables-save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full ruleset export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best visibility tool for iptables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nft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modern ruleset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nftables-based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conntrack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session/NAT state inspection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stateful troubleshooting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tcpdump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packet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prove path before/after firewall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Cisco analogy: ACLs + NAT + stateful inspection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Cisco/networking concept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Linux concept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Important note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ACL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iptables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Rule order matters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Interface direction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chain/hook position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INPUT/FORWARD/OUTPUT paths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NAT overload/PAT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MASQUERADE/SNAT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Often in POSTROUTING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Static port forward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DNAT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Often in PREROUTING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Stateful firewall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conntrack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Return traffic matched by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The most important concept: packet traversal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1600200" cy="68580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50" b="1">
                <a:solidFill>
                  <a:srgbClr val="141C26"/>
                </a:solidFill>
              </a:defRPr>
            </a:pPr>
            <a:r>
              <a:t>PREROUTING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920240"/>
            <a:ext cx="1600200" cy="68580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50" b="1">
                <a:solidFill>
                  <a:srgbClr val="141C26"/>
                </a:solidFill>
              </a:defRPr>
            </a:pPr>
            <a:r>
              <a:t>Routing</a:t>
            </a:r>
            <a:br/>
            <a:r>
              <a:t>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43000"/>
            <a:ext cx="1600200" cy="68580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50" b="1">
                <a:solidFill>
                  <a:srgbClr val="141C26"/>
                </a:solidFill>
              </a:defRPr>
            </a:pPr>
            <a: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834640"/>
            <a:ext cx="1600200" cy="68580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50" b="1">
                <a:solidFill>
                  <a:srgbClr val="141C26"/>
                </a:solidFill>
              </a:defRPr>
            </a:pPr>
            <a:r>
              <a:t>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43000"/>
            <a:ext cx="1600200" cy="68580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50" b="1">
                <a:solidFill>
                  <a:srgbClr val="141C26"/>
                </a:solidFill>
              </a:defRPr>
            </a:pPr>
            <a: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834640"/>
            <a:ext cx="1600200" cy="68580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50" b="1">
                <a:solidFill>
                  <a:srgbClr val="141C26"/>
                </a:solidFill>
              </a:defRPr>
            </a:pPr>
            <a:r>
              <a:t>POSTROUTING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267712"/>
            <a:ext cx="411480" cy="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297680" y="1481328"/>
            <a:ext cx="365760" cy="576072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97680" y="2468880"/>
            <a:ext cx="365760" cy="68580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63640" y="3182112"/>
            <a:ext cx="2468880" cy="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1481328"/>
            <a:ext cx="411480" cy="1353312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20" y="777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87C"/>
                </a:solidFill>
              </a:defRPr>
            </a:pPr>
            <a:r>
              <a:t>Local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87C"/>
                </a:solidFill>
              </a:defRPr>
            </a:pPr>
            <a:r>
              <a:t>Routed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777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87C"/>
                </a:solidFill>
              </a:defRPr>
            </a:pPr>
            <a:r>
              <a:t>Locally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A2647"/>
                </a:solidFill>
              </a:defRPr>
            </a:pPr>
            <a:r>
              <a:t>Most mistakes happen because the rule is correct — but placed in the wrong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Three traffic 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41732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2179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Traffic type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Primary chain/path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Traffic to the Linux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SSH to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Traffic routed through the host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container → Internet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FORWARD + POSTROUTING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Traffic generated by the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host curl 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OUTPUT + POSTROUTING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Traffic to a published container 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client → host:8080 → container:80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PREROUTING DNAT + FORWARD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05840" y="4892040"/>
            <a:ext cx="10149840" cy="59436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900" b="1">
                <a:solidFill>
                  <a:srgbClr val="141C26"/>
                </a:solidFill>
              </a:defRPr>
            </a:pPr>
            <a:r>
              <a:t>Docker traffic is usually forwarded traffic, not local host INPUT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INPUT vs FORWARD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4023360" cy="114300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000" b="1">
                <a:solidFill>
                  <a:srgbClr val="141C26"/>
                </a:solidFill>
              </a:defRPr>
            </a:pPr>
            <a:r>
              <a:t>INPUT</a:t>
            </a:r>
            <a:br/>
            <a:r>
              <a:t>packet is destined</a:t>
            </a:r>
            <a:br/>
            <a:r>
              <a:t>for the Linux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828800"/>
            <a:ext cx="4023360" cy="114300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000" b="1">
                <a:solidFill>
                  <a:srgbClr val="141C26"/>
                </a:solidFill>
              </a:defRPr>
            </a:pPr>
            <a:r>
              <a:t>FORWARD</a:t>
            </a:r>
            <a:br/>
            <a:r>
              <a:t>packet is routed</a:t>
            </a:r>
            <a:br/>
            <a:r>
              <a:t>through the Linux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474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2647"/>
                </a:solidFill>
              </a:defRPr>
            </a:pPr>
            <a:r>
              <a:t>Example: SSH to host →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3474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2647"/>
                </a:solidFill>
              </a:defRPr>
            </a:pPr>
            <a:r>
              <a:t>Example: published Docker port →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iptables 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1732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Common chains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allow/drop/reject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INPUT, FORWARD,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nat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source/destination NAT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PREROUTING, OUTPUT, POSTROUTING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mangle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mark/modify packets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multiple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raw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conntrack exemptions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1C26"/>
                          </a:solidFill>
                        </a:defRPr>
                      </a:pPr>
                      <a:r>
                        <a:t>PREROUTING, OUTPUT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Chains: where rules are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Chains are packet path checkpoints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PREROUTING: before the routing decision, common place for DNAT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INPUT: packets delivered locally to the Linux 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FORWARD: routed packets passing through the Linux 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OUTPUT: packets generated by local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POSTROUTING: after routing decision, common place for SNAT/MASQUERADE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Basic iptables rule syntax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10789920" cy="297180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4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450">
                <a:solidFill>
                  <a:srgbClr val="5FE68C"/>
                </a:solidFill>
                <a:latin typeface="Consolas"/>
              </a:defRPr>
            </a:pPr>
            <a:r>
              <a:t># allow SSH to the host</a:t>
            </a:r>
          </a:p>
          <a:p>
            <a:pPr>
              <a:defRPr sz="1450">
                <a:solidFill>
                  <a:srgbClr val="EBF5FF"/>
                </a:solidFill>
                <a:latin typeface="Consolas"/>
              </a:defRPr>
            </a:pPr>
            <a:r>
              <a:t>sudo iptables -A INPUT -p tcp --dport 22 -j ACCEPT</a:t>
            </a:r>
          </a:p>
          <a:p>
            <a:pPr>
              <a:defRPr sz="14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450">
                <a:solidFill>
                  <a:srgbClr val="5FE68C"/>
                </a:solidFill>
                <a:latin typeface="Consolas"/>
              </a:defRPr>
            </a:pPr>
            <a:r>
              <a:t># drop ICMP to the host</a:t>
            </a:r>
          </a:p>
          <a:p>
            <a:pPr>
              <a:defRPr sz="1450">
                <a:solidFill>
                  <a:srgbClr val="EBF5FF"/>
                </a:solidFill>
                <a:latin typeface="Consolas"/>
              </a:defRPr>
            </a:pPr>
            <a:r>
              <a:t>sudo iptables -A INPUT -p icmp -j DROP</a:t>
            </a:r>
          </a:p>
          <a:p>
            <a:pPr>
              <a:defRPr sz="14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450">
                <a:solidFill>
                  <a:srgbClr val="5FE68C"/>
                </a:solidFill>
                <a:latin typeface="Consolas"/>
              </a:defRPr>
            </a:pPr>
            <a:r>
              <a:t># list rules with counters</a:t>
            </a:r>
          </a:p>
          <a:p>
            <a:pPr>
              <a:defRPr sz="1450">
                <a:solidFill>
                  <a:srgbClr val="EBF5FF"/>
                </a:solidFill>
                <a:latin typeface="Consolas"/>
              </a:defRPr>
            </a:pPr>
            <a:r>
              <a:t>sudo iptables -L -n -v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800600"/>
            <a:ext cx="9601200" cy="59436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200" b="1">
                <a:solidFill>
                  <a:srgbClr val="141C26"/>
                </a:solidFill>
              </a:defRPr>
            </a:pPr>
            <a:r>
              <a:t>Rule = chain + match conditions + target/action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Common match conditions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112928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58129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Match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-p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match TCP packets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-s 10.0.0.0/24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match source network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-d 192.168.1.10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match destination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--dport 443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match destination TCP/UDP 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-i eth0 / -o docker0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match ingress or egress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-m conntrack --ctstate ESTABLISHED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C26"/>
                          </a:solidFill>
                        </a:defRPr>
                      </a:pPr>
                      <a:r>
                        <a:t>match connection state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Common targets/actions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ACCEPT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allow the packet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permit required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DROP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silently discard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stealthier blocking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discard and notify sender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clear troubleshooting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log and continue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visibility before decision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DNAT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change destination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published 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MASQUERADE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dynamic source NAT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1C26"/>
                          </a:solidFill>
                        </a:defRPr>
                      </a:pPr>
                      <a:r>
                        <a:t>container egress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Rule evaluation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This is similar to ACL processing, but across multiple chains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Rules are evaluated top-down inside a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The first terminating match usually decides the packet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Specific exceptions should appear before broad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Default policy applies if no rule matches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Rule counters help prove which rule is being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Use iptables-save for visibility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972800" cy="3977639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28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280">
                <a:solidFill>
                  <a:srgbClr val="5FE68C"/>
                </a:solidFill>
                <a:latin typeface="Consolas"/>
              </a:defRPr>
            </a:pPr>
            <a:r>
              <a:t>$ sudo iptables-save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*filter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:INPUT ACCEPT [0:0]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:FORWARD DROP [0:0]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:OUTPUT ACCEPT [0:0]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-A INPUT -p tcp -m tcp --dport 22 -j ACCEPT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COMMIT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*nat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:PREROUTING ACCEPT [0:0]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:POSTROUTING ACCEPT [0:0]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Default policies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10607040" cy="233172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50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500">
                <a:solidFill>
                  <a:srgbClr val="5FE68C"/>
                </a:solidFill>
                <a:latin typeface="Consolas"/>
              </a:defRPr>
            </a:pPr>
            <a:r>
              <a:t># default deny for host inbound traffic</a:t>
            </a:r>
          </a:p>
          <a:p>
            <a:pPr>
              <a:defRPr sz="1500">
                <a:solidFill>
                  <a:srgbClr val="EBF5FF"/>
                </a:solidFill>
                <a:latin typeface="Consolas"/>
              </a:defRPr>
            </a:pPr>
            <a:r>
              <a:t>sudo iptables -P INPUT DROP</a:t>
            </a:r>
          </a:p>
          <a:p>
            <a:pPr>
              <a:defRPr sz="1500">
                <a:solidFill>
                  <a:srgbClr val="EBF5FF"/>
                </a:solidFill>
                <a:latin typeface="Consolas"/>
              </a:defRPr>
            </a:pPr>
            <a:r>
              <a:t>sudo iptables -P FORWARD DROP</a:t>
            </a:r>
          </a:p>
          <a:p>
            <a:pPr>
              <a:defRPr sz="1500">
                <a:solidFill>
                  <a:srgbClr val="EBF5FF"/>
                </a:solidFill>
                <a:latin typeface="Consolas"/>
              </a:defRPr>
            </a:pPr>
            <a:r>
              <a:t>sudo iptables -P OUTPUT ACCEPT</a:t>
            </a:r>
          </a:p>
          <a:p>
            <a:pPr>
              <a:defRPr sz="150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5FE68C"/>
                </a:solidFill>
                <a:latin typeface="Consolas"/>
              </a:defRPr>
            </a:pPr>
            <a:r>
              <a:t># but first allow existing sessions and management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4343400"/>
            <a:ext cx="10149840" cy="64008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900" b="1">
                <a:solidFill>
                  <a:srgbClr val="141C26"/>
                </a:solidFill>
              </a:defRPr>
            </a:pPr>
            <a:r>
              <a:t>Warning: setting INPUT DROP remotely without allowing SSH can lock you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Stateful firewalling with conntrack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Stateful inspection is the firewall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conntrack tracks flows and connection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Stateful rules allow return traffic without reverse static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Common states: NEW, ESTABLISHED, RELATED, INVALID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NAT depends on conntrack to map return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conntrack is central to Docker NAT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conntrack states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Typical firewall action</a:t>
                      </a:r>
                    </a:p>
                  </a:txBody>
                  <a:tcPr>
                    <a:solidFill>
                      <a:srgbClr val="005CA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new connection attempt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allow only if explicitly permitted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ESTABLISHED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part of an existing 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allow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RELATED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related to an existing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allow when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INVALID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cannot be identified or malformed state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41C26"/>
                          </a:solidFill>
                        </a:defRPr>
                      </a:pPr>
                      <a:r>
                        <a:t>drop/log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Basic stateful host firewall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51560"/>
            <a:ext cx="10972800" cy="425196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28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280">
                <a:solidFill>
                  <a:srgbClr val="5FE68C"/>
                </a:solidFill>
                <a:latin typeface="Consolas"/>
              </a:defRPr>
            </a:pPr>
            <a:r>
              <a:t># allow loopback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sudo iptables -A INPUT -i lo -j ACCEPT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280">
                <a:solidFill>
                  <a:srgbClr val="5FE68C"/>
                </a:solidFill>
                <a:latin typeface="Consolas"/>
              </a:defRPr>
            </a:pPr>
            <a:r>
              <a:t># allow return traffic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sudo iptables -A INPUT -m conntrack --ctstate ESTABLISHED,RELATED -j ACCEPT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280">
                <a:solidFill>
                  <a:srgbClr val="5FE68C"/>
                </a:solidFill>
                <a:latin typeface="Consolas"/>
              </a:defRPr>
            </a:pPr>
            <a:r>
              <a:t># allow SSH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sudo iptables -A INPUT -p tcp --dport 22 -j ACCEPT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280">
                <a:solidFill>
                  <a:srgbClr val="5FE68C"/>
                </a:solidFill>
                <a:latin typeface="Consolas"/>
              </a:defRPr>
            </a:pPr>
            <a:r>
              <a:t># default deny</a:t>
            </a:r>
          </a:p>
          <a:p>
            <a:pPr>
              <a:defRPr sz="1280">
                <a:solidFill>
                  <a:srgbClr val="EBF5FF"/>
                </a:solidFill>
                <a:latin typeface="Consolas"/>
              </a:defRPr>
            </a:pPr>
            <a:r>
              <a:t>sudo iptables -P INPUT 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Inspecting conntrack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297180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2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20">
                <a:solidFill>
                  <a:srgbClr val="5FE68C"/>
                </a:solidFill>
                <a:latin typeface="Consolas"/>
              </a:defRPr>
            </a:pPr>
            <a:r>
              <a:t>$ sudo conntrack -L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tcp 6 431999 ESTABLISHED src=10.0.0.50 dst=10.0.0.20 sport=51522 dport=22 ...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20">
                <a:solidFill>
                  <a:srgbClr val="5FE68C"/>
                </a:solidFill>
                <a:latin typeface="Consolas"/>
              </a:defRPr>
            </a:pPr>
            <a:r>
              <a:t>$ sudo conntrack -L -p tcp --dport 80</a:t>
            </a:r>
          </a:p>
          <a:p>
            <a:pPr>
              <a:defRPr sz="1320">
                <a:solidFill>
                  <a:srgbClr val="5FE68C"/>
                </a:solidFill>
                <a:latin typeface="Consolas"/>
              </a:defRPr>
            </a:pPr>
            <a:r>
              <a:t>$ sudo conntrack -E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20">
                <a:solidFill>
                  <a:srgbClr val="5FE68C"/>
                </a:solidFill>
                <a:latin typeface="Consolas"/>
              </a:defRPr>
            </a:pPr>
            <a:r>
              <a:t># conntrack -E streams events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4663440"/>
            <a:ext cx="10149840" cy="59436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900" b="1">
                <a:solidFill>
                  <a:srgbClr val="141C26"/>
                </a:solidFill>
              </a:defRPr>
            </a:pPr>
            <a:r>
              <a:t>When NAT is involved, conntrack shows the before/after tuple.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NAT in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NAT is packet rewriting plus state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NAT rules live in the nat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DNAT commonly happens before routing in PREROUTING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SNAT/MASQUERADE commonly happens after routing in POSTROUTING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NAT is applied mainly to the first packet of a connection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conntrack applies the remembered translation to the rest of the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NAT 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Where translations normally occur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600200" cy="77724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20" b="1">
                <a:solidFill>
                  <a:srgbClr val="141C26"/>
                </a:solidFill>
              </a:defRPr>
            </a:pPr>
            <a:r>
              <a:t>packet enters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542032"/>
            <a:ext cx="301752" cy="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04872" y="2148840"/>
            <a:ext cx="1600200" cy="77724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20" b="1">
                <a:solidFill>
                  <a:srgbClr val="141C26"/>
                </a:solidFill>
              </a:defRPr>
            </a:pPr>
            <a:r>
              <a:t>PREROUTING</a:t>
            </a:r>
            <a:br/>
            <a:r>
              <a:t>DNAT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05072" y="2542032"/>
            <a:ext cx="301752" cy="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06824" y="2148840"/>
            <a:ext cx="1600200" cy="77724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20" b="1">
                <a:solidFill>
                  <a:srgbClr val="141C26"/>
                </a:solidFill>
              </a:defRPr>
            </a:pPr>
            <a:r>
              <a:t>routing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07024" y="2542032"/>
            <a:ext cx="301752" cy="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08776" y="2148840"/>
            <a:ext cx="1600200" cy="77724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20" b="1">
                <a:solidFill>
                  <a:srgbClr val="141C26"/>
                </a:solidFill>
              </a:defRPr>
            </a:pPr>
            <a:r>
              <a:t>FORWARD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5" y="2542032"/>
            <a:ext cx="301753" cy="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0728" y="2148840"/>
            <a:ext cx="1600200" cy="77724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20" b="1">
                <a:solidFill>
                  <a:srgbClr val="141C26"/>
                </a:solidFill>
              </a:defRPr>
            </a:pPr>
            <a:r>
              <a:t>POSTROUTING</a:t>
            </a:r>
            <a:br/>
            <a:r>
              <a:t>SNAT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10928" y="2542032"/>
            <a:ext cx="301752" cy="0"/>
          </a:xfrm>
          <a:prstGeom prst="line">
            <a:avLst/>
          </a:prstGeom>
          <a:ln w="2540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12680" y="2148840"/>
            <a:ext cx="1600200" cy="777240"/>
          </a:xfrm>
          <a:prstGeom prst="roundRect">
            <a:avLst/>
          </a:prstGeom>
          <a:solidFill>
            <a:srgbClr val="EEEBFF"/>
          </a:solidFill>
          <a:ln w="1651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220" b="1">
                <a:solidFill>
                  <a:srgbClr val="141C26"/>
                </a:solidFill>
              </a:defRPr>
            </a:pPr>
            <a:r>
              <a:t>packet exits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A2647"/>
                </a:solidFill>
              </a:defRPr>
            </a:pPr>
            <a:r>
              <a:t>DNAT changes where the packet goes. SNAT changes who the packet appears to come from.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SNAT and MASQUERADE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247120" cy="265176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0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static source NAT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sudo iptables -t nat -A POSTROUTING -s 172.18.0.0/16 -o eth0 \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  -j SNAT --to-source 10.0.0.20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dynamic source NAT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sudo iptables -t nat -A POSTROUTING -s 172.18.0.0/16 -o eth0 \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  -j MASQUERADE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480560"/>
            <a:ext cx="9601200" cy="64008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000" b="1">
                <a:solidFill>
                  <a:srgbClr val="141C26"/>
                </a:solidFill>
              </a:defRPr>
            </a:pPr>
            <a:r>
              <a:t>Docker commonly uses MASQUERADE for container egress.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DNAT for port forwarding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247120" cy="265176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0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forward host TCP/8080 to container TCP/80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sudo iptables -t nat -A PREROUTING -p tcp --dport 8080 \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  -j DNAT --to-destination 172.18.0.2:80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allow forwarded traffic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sudo iptables -A FORWARD -p tcp -d 172.18.0.2 --dport 80 -j ACCEPT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480560"/>
            <a:ext cx="9601200" cy="64008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000" b="1">
                <a:solidFill>
                  <a:srgbClr val="141C26"/>
                </a:solidFill>
              </a:defRPr>
            </a:pPr>
            <a:r>
              <a:t>Port publishing is a DNAT + forwarding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Docker and iptables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Docker is not bypassing Linux firewalling — it is using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Docker creates custom chains for its bridge networks and published 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Docker modifies nat and filter tables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DOCKER chain commonly contains DNAT rules for published 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DOCKER-USER is intended for administrator-defined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Do not edit Docker-managed chains blindly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Docker chain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645920" cy="68580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300" b="1">
                <a:solidFill>
                  <a:srgbClr val="141C26"/>
                </a:solidFill>
              </a:defRPr>
            </a:pPr>
            <a:r>
              <a:t>PREROUTING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920240"/>
            <a:ext cx="1645920" cy="68580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300" b="1">
                <a:solidFill>
                  <a:srgbClr val="141C26"/>
                </a:solidFill>
              </a:defRPr>
            </a:pPr>
            <a:r>
              <a:t>DOCKER</a:t>
            </a:r>
            <a:br/>
            <a:r>
              <a:t>nat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920240"/>
            <a:ext cx="1645920" cy="68580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300" b="1">
                <a:solidFill>
                  <a:srgbClr val="141C26"/>
                </a:solidFill>
              </a:defRPr>
            </a:pPr>
            <a:r>
              <a:t>DNAT to</a:t>
            </a:r>
            <a:br/>
            <a:r>
              <a:t>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20240"/>
            <a:ext cx="1645920" cy="68580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300" b="1">
                <a:solidFill>
                  <a:srgbClr val="141C26"/>
                </a:solidFill>
              </a:defRPr>
            </a:pPr>
            <a:r>
              <a:t>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920240"/>
            <a:ext cx="1645920" cy="68580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300" b="1">
                <a:solidFill>
                  <a:srgbClr val="141C26"/>
                </a:solidFill>
              </a:defRPr>
            </a:pPr>
            <a:r>
              <a:t>container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267712"/>
            <a:ext cx="54864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267712"/>
            <a:ext cx="54864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6560" y="2267712"/>
            <a:ext cx="54864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0" y="2267712"/>
            <a:ext cx="54864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2647"/>
                </a:solidFill>
              </a:defRPr>
            </a:pPr>
            <a:r>
              <a:t>Exact chains may vary by Docker version, iptables backend and distribution.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Practical lab topology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2011680" cy="82296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external client</a:t>
            </a:r>
            <a:br/>
            <a:r>
              <a:t>or host curl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783080"/>
            <a:ext cx="2103120" cy="109728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Linux host</a:t>
            </a:r>
            <a:br/>
            <a:r>
              <a:t>iptables/NAT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920240"/>
            <a:ext cx="2011680" cy="82296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Docker bridge</a:t>
            </a:r>
            <a:br/>
            <a:r>
              <a:t>app-net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920240"/>
            <a:ext cx="2011680" cy="82296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400" b="1">
                <a:solidFill>
                  <a:srgbClr val="141C26"/>
                </a:solidFill>
              </a:defRPr>
            </a:pPr>
            <a:r>
              <a:t>web container</a:t>
            </a:r>
            <a:br/>
            <a:r>
              <a:t>nginx :80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97480" y="2331720"/>
            <a:ext cx="64008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40680" y="2331720"/>
            <a:ext cx="64008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92440" y="2331720"/>
            <a:ext cx="640080" cy="0"/>
          </a:xfrm>
          <a:prstGeom prst="line">
            <a:avLst/>
          </a:prstGeom>
          <a:ln w="31750">
            <a:solidFill>
              <a:srgbClr val="00B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069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2647"/>
                </a:solidFill>
              </a:defRPr>
            </a:pPr>
            <a:r>
              <a:t>We continue the Docker bridge example: app-net + nginx + published port 8080.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step 1: create app network and web container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247120" cy="274320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docker network create app-net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docker run -d --name web --network app-net -p 8080:80 nginx:alpine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docker ps --format 'table {{.Names}}\t{{.Ports}}\t{{.Networks}}'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NAMES   PORTS                  NETWORKS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web     0.0.0.0:8080-&gt;80/tcp   app-net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step 2: verify application and container 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333756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2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20">
                <a:solidFill>
                  <a:srgbClr val="5FE68C"/>
                </a:solidFill>
                <a:latin typeface="Consolas"/>
              </a:defRPr>
            </a:pPr>
            <a:r>
              <a:t>$ curl -I http://127.0.0.1:8080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HTTP/1.1 200 OK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20">
                <a:solidFill>
                  <a:srgbClr val="5FE68C"/>
                </a:solidFill>
                <a:latin typeface="Consolas"/>
              </a:defRPr>
            </a:pPr>
            <a:r>
              <a:t>$ docker inspect -f '{{range.NetworkSettings.Networks}}{{.IPAddress}}{{end}}' web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172.18.0.2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20">
                <a:solidFill>
                  <a:srgbClr val="5FE68C"/>
                </a:solidFill>
                <a:latin typeface="Consolas"/>
              </a:defRPr>
            </a:pPr>
            <a:r>
              <a:t>$ docker exec web ss -ltnp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LISTEN 0.0.0.0:80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step 3: inspect Docker-generated NAT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247120" cy="274320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22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220">
                <a:solidFill>
                  <a:srgbClr val="5FE68C"/>
                </a:solidFill>
                <a:latin typeface="Consolas"/>
              </a:defRPr>
            </a:pPr>
            <a:r>
              <a:t>$ sudo iptables-save | grep -E '8080|DNAT|MASQUERADE|DOCKER'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  <a:r>
              <a:t>-A PREROUTING -m addrtype --dst-type LOCAL -j DOCKER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  <a:r>
              <a:t>-A DOCKER ! -i br-xxxx -p tcp -m tcp --dport 8080 \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  <a:r>
              <a:t>    -j DNAT --to-destination 172.18.0.2:80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  <a:r>
              <a:t>-A POSTROUTING -s 172.18.0.0/16 ! -o br-xxxx -j MASQUERADE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59436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900" b="1">
                <a:solidFill>
                  <a:srgbClr val="141C26"/>
                </a:solidFill>
              </a:defRPr>
            </a:pPr>
            <a:r>
              <a:t>This single output shows both inbound DNAT and outbound MASQUERADE.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step 4: prove the packet path with tcpdump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333756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terminal 1: capture host port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sudo tcpdump -ni any tcp port 8080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terminal 2: capture container port on Docker bridge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sudo tcpdump -ni br-xxxx tcp port 80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terminal 3: generate traffic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curl http://127.0.0.1:8080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983480"/>
            <a:ext cx="9418320" cy="59436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000" b="1">
                <a:solidFill>
                  <a:srgbClr val="141C26"/>
                </a:solidFill>
              </a:defRPr>
            </a:pPr>
            <a:r>
              <a:t>Before DNAT: host:8080. After DNAT: container:80.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step 5: inspect conntrack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247120" cy="242316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21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210">
                <a:solidFill>
                  <a:srgbClr val="5FE68C"/>
                </a:solidFill>
                <a:latin typeface="Consolas"/>
              </a:defRPr>
            </a:pPr>
            <a:r>
              <a:t>$ sudo conntrack -L -p tcp | grep 172.18.0.2</a:t>
            </a:r>
          </a:p>
          <a:p>
            <a:pPr>
              <a:defRPr sz="1210">
                <a:solidFill>
                  <a:srgbClr val="EBF5FF"/>
                </a:solidFill>
                <a:latin typeface="Consolas"/>
              </a:defRPr>
            </a:pPr>
            <a:r>
              <a:t>tcp 6 431999 ESTABLISHED src=127.0.0.1 dst=127.0.0.1 sport=51522 dport=8080</a:t>
            </a:r>
          </a:p>
          <a:p>
            <a:pPr>
              <a:defRPr sz="1210">
                <a:solidFill>
                  <a:srgbClr val="EBF5FF"/>
                </a:solidFill>
                <a:latin typeface="Consolas"/>
              </a:defRPr>
            </a:pPr>
            <a:r>
              <a:t>    src=172.18.0.2 dst=172.18.0.1 sport=80 dport=51522</a:t>
            </a:r>
          </a:p>
          <a:p>
            <a:pPr>
              <a:defRPr sz="121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210">
                <a:solidFill>
                  <a:srgbClr val="5FE68C"/>
                </a:solidFill>
                <a:latin typeface="Consolas"/>
              </a:defRPr>
            </a:pPr>
            <a:r>
              <a:t># exact output depends on source path and Docker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389120"/>
            <a:ext cx="9966960" cy="59436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900" b="1">
                <a:solidFill>
                  <a:srgbClr val="141C26"/>
                </a:solidFill>
              </a:defRPr>
            </a:pPr>
            <a:r>
              <a:t>conntrack shows the remembered flow state used for return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step 6: add a simple DOCKER-USER policy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11430000" cy="283464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22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220">
                <a:solidFill>
                  <a:srgbClr val="5FE68C"/>
                </a:solidFill>
                <a:latin typeface="Consolas"/>
              </a:defRPr>
            </a:pPr>
            <a:r>
              <a:t># example: allow one source, then drop other forwarded container ingress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  <a:r>
              <a:t>sudo iptables -I DOCKER-USER 1 -s 10.0.0.50 -p tcp --dport 80 -j ACCEPT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  <a:r>
              <a:t>sudo iptables -A DOCKER-USER -p tcp --dport 80 -j DROP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220">
                <a:solidFill>
                  <a:srgbClr val="5FE68C"/>
                </a:solidFill>
                <a:latin typeface="Consolas"/>
              </a:defRPr>
            </a:pPr>
            <a:r>
              <a:t># inspect counters</a:t>
            </a:r>
          </a:p>
          <a:p>
            <a:pPr>
              <a:defRPr sz="1220">
                <a:solidFill>
                  <a:srgbClr val="EBF5FF"/>
                </a:solidFill>
                <a:latin typeface="Consolas"/>
              </a:defRPr>
            </a:pPr>
            <a:r>
              <a:t>sudo iptables -L DOCKER-USER -n -v --line-numbers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617720"/>
            <a:ext cx="10332720" cy="59436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0">
                <a:solidFill>
                  <a:srgbClr val="141C26"/>
                </a:solidFill>
              </a:defRPr>
            </a:pPr>
            <a:r>
              <a:t>Use DOCKER-USER for custom Docker filtering instead of editing Docker-managed chains.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safety: remove test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342900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sudo iptables -L DOCKER-USER -n -v --line-numbers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delete by line number, starting with the highest number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sudo iptables -D DOCKER-USER 2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sudo iptables -D DOCKER-USER 1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or flush only if you know this is a lab host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sudo iptables -F DOCKER-USER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983480"/>
            <a:ext cx="8503920" cy="59436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200" b="1">
                <a:solidFill>
                  <a:srgbClr val="141C26"/>
                </a:solidFill>
              </a:defRPr>
            </a:pPr>
            <a:r>
              <a:t>Never casually flush production firewall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Troubleshooting workflow: published 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02920" cy="502920"/>
          </a:xfrm>
          <a:prstGeom prst="roundRect">
            <a:avLst/>
          </a:prstGeom>
          <a:solidFill>
            <a:srgbClr val="005CA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075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647"/>
                </a:solidFill>
              </a:defRPr>
            </a:pPr>
            <a:r>
              <a:t>docker 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1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87C"/>
                </a:solidFill>
              </a:defRPr>
            </a:pPr>
            <a:r>
              <a:t>is port published?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02920" cy="502920"/>
          </a:xfrm>
          <a:prstGeom prst="roundRect">
            <a:avLst/>
          </a:prstGeom>
          <a:solidFill>
            <a:srgbClr val="005CA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075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647"/>
                </a:solidFill>
              </a:defRPr>
            </a:pPr>
            <a:r>
              <a:t>ss in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4591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87C"/>
                </a:solidFill>
              </a:defRPr>
            </a:pPr>
            <a:r>
              <a:t>is app listening?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502920" cy="502920"/>
          </a:xfrm>
          <a:prstGeom prst="roundRect">
            <a:avLst/>
          </a:prstGeom>
          <a:solidFill>
            <a:srgbClr val="005CA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334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647"/>
                </a:solidFill>
              </a:defRPr>
            </a:pPr>
            <a:r>
              <a:t>iptables nat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71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87C"/>
                </a:solidFill>
              </a:defRPr>
            </a:pPr>
            <a:r>
              <a:t>is DNAT present?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651760"/>
            <a:ext cx="502920" cy="502920"/>
          </a:xfrm>
          <a:prstGeom prst="roundRect">
            <a:avLst/>
          </a:prstGeom>
          <a:solidFill>
            <a:srgbClr val="005CA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6334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647"/>
                </a:solidFill>
              </a:defRPr>
            </a:pPr>
            <a:r>
              <a:t>iptables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71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87C"/>
                </a:solidFill>
              </a:defRPr>
            </a:pPr>
            <a:r>
              <a:t>is FORWARD allowed?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77639"/>
            <a:ext cx="502920" cy="502920"/>
          </a:xfrm>
          <a:prstGeom prst="roundRect">
            <a:avLst/>
          </a:prstGeom>
          <a:solidFill>
            <a:srgbClr val="005CA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593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647"/>
                </a:solidFill>
              </a:defRPr>
            </a:pPr>
            <a:r>
              <a:t>conntrack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7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87C"/>
                </a:solidFill>
              </a:defRPr>
            </a:pPr>
            <a:r>
              <a:t>is state created?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39"/>
            <a:ext cx="502920" cy="502920"/>
          </a:xfrm>
          <a:prstGeom prst="roundRect">
            <a:avLst/>
          </a:prstGeom>
          <a:solidFill>
            <a:srgbClr val="005CA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593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647"/>
                </a:solidFill>
              </a:defRPr>
            </a:pPr>
            <a:r>
              <a:t>tcpdump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9767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87C"/>
                </a:solidFill>
              </a:defRPr>
            </a:pPr>
            <a:r>
              <a:t>where does packet stop?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Scenario: rule in the wrong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324612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0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admin tries to block published container port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sudo iptables -A INPUT -p tcp --dport 8080 -j DROP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but Docker published port may still work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$ curl http://host-ip:8080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HTTP/1.1 200 OK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FFD54F"/>
                </a:solidFill>
                <a:latin typeface="Consolas"/>
              </a:defRPr>
            </a:pPr>
            <a:r>
              <a:t>! published container traffic is commonly FORWARD after DNAT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846320"/>
            <a:ext cx="8503920" cy="59436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2200" b="1">
                <a:solidFill>
                  <a:srgbClr val="141C26"/>
                </a:solidFill>
              </a:defRPr>
            </a:pPr>
            <a:r>
              <a:t>Correct-looking rule, wrong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Scenario: NAT is fine, application is broken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306324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docker ps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web  0.0.0.0:8080-&gt;80/tcp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curl http://127.0.0.1:8080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curl: Empty reply from server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docker exec web ss -ltnp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no listener on :80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709160"/>
            <a:ext cx="9966960" cy="594360"/>
          </a:xfrm>
          <a:prstGeom prst="roundRect">
            <a:avLst/>
          </a:prstGeom>
          <a:solidFill>
            <a:srgbClr val="DCF7F4"/>
          </a:solidFill>
          <a:ln w="1651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900" b="1">
                <a:solidFill>
                  <a:srgbClr val="141C26"/>
                </a:solidFill>
              </a:defRPr>
            </a:pPr>
            <a:r>
              <a:t>Do not blame iptables until you prove the service is listening.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Scenario: container has no Internet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342900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docker exec client ping -c 2 8.8.8.8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100% packet loss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check route in container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docker exec client ip route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check host forwarding and NAT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sysctl net.ipv4.ip_forward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iptables-save | grep MASQUERADE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983480"/>
            <a:ext cx="10332720" cy="59436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141C26"/>
                </a:solidFill>
              </a:defRPr>
            </a:pPr>
            <a:r>
              <a:t>Likely areas: container default route, host forwarding, FORWARD chain or POSTROUTING MASQUERADE.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Logging packets safely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283464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log before dropping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sudo iptables -A INPUT -p tcp --dport 8080 -j LOG --log-prefix 'FW DROP 8080: '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sudo iptables -A INPUT -p tcp --dport 8080 -j DROP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# view logs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sudo journalctl -k -f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sudo dmesg -w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663440"/>
            <a:ext cx="9966960" cy="594360"/>
          </a:xfrm>
          <a:prstGeom prst="roundRect">
            <a:avLst/>
          </a:prstGeom>
          <a:solidFill>
            <a:srgbClr val="FFE6E6"/>
          </a:solidFill>
          <a:ln w="16510"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900" b="1">
                <a:solidFill>
                  <a:srgbClr val="141C26"/>
                </a:solidFill>
              </a:defRPr>
            </a:pPr>
            <a:r>
              <a:t>Be careful: logging high-volume traffic can overwhelm 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nftables 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Learn the packet model first; syntax can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Many modern distributions use nftables under the hood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iptables commands may use the iptables-nft compatibility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iptables-save may still show rules even when nftables backend is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nft list ruleset shows the native nftables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Concepts remain the same: hooks, chains, rules, state, NAT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Inspect nftables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10972800" cy="283464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5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sudo nft list ruleset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table ip nat {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  chain PREROUTING { type nat hook prerouting priority dstnat; }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  chain POSTROUTING { type nat hook postrouting priority srcnat; }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}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50">
                <a:solidFill>
                  <a:srgbClr val="5FE68C"/>
                </a:solidFill>
                <a:latin typeface="Consolas"/>
              </a:defRPr>
            </a:pPr>
            <a:r>
              <a:t>$ iptables --version</a:t>
            </a:r>
          </a:p>
          <a:p>
            <a:pPr>
              <a:defRPr sz="1350">
                <a:solidFill>
                  <a:srgbClr val="EBF5FF"/>
                </a:solidFill>
                <a:latin typeface="Consolas"/>
              </a:defRPr>
            </a:pPr>
            <a:r>
              <a:t>iptables v1.8.x (nf_tables)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87C"/>
                </a:solidFill>
              </a:defRPr>
            </a:pPr>
            <a:r>
              <a:t>Firewalling is both control and visibility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Start with a clear policy: what should be reachable, from where?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02536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Use stateful rules for return traffic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9191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Expose only required Docker 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55848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Bind published ports to 127.0.0.1 when external access is not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32504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Use DOCKER-USER for administrator Docker firewall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09160"/>
            <a:ext cx="108356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50">
                <a:solidFill>
                  <a:srgbClr val="141C26"/>
                </a:solidFill>
              </a:defRPr>
            </a:pPr>
            <a:r>
              <a:t>• Always test with tcpdump and rule counters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Lab cleanup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384048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00" b="1">
                <a:solidFill>
                  <a:srgbClr val="00B8D9"/>
                </a:solidFill>
                <a:latin typeface="Consolas"/>
              </a:defRPr>
            </a:pPr>
            <a:r>
              <a:t>Terminal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$ docker rm -f web client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$ docker network rm app-net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remove only lab rules from DOCKER-USER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$ sudo iptables -L DOCKER-USER -n -v --line-numbers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$ sudo iptables -D DOCKER-USER &lt;line-number&gt;</a:t>
            </a:r>
          </a:p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# verify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$ docker ps -a</a:t>
            </a:r>
          </a:p>
          <a:p>
            <a:pPr>
              <a:defRPr sz="1300">
                <a:solidFill>
                  <a:srgbClr val="5FE68C"/>
                </a:solidFill>
                <a:latin typeface="Consolas"/>
              </a:defRPr>
            </a:pPr>
            <a:r>
              <a:t>$ docker network 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Command cheat sheet: iptables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3977639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20" b="1">
                <a:solidFill>
                  <a:srgbClr val="00B8D9"/>
                </a:solidFill>
                <a:latin typeface="Consolas"/>
              </a:defRPr>
            </a:pPr>
            <a:r>
              <a:t>Cheat sheet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 -L -n -v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 -S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iptables-save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 -t nat -L -n -v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 -A INPUT -m conntrack --ctstate ESTABLISHED,RELATED -j ACCEPT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 -A INPUT -p tcp --dport 22 -j ACCEPT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 -t nat -A POSTROUTING -s 172.18.0.0/16 -j MASQUERADE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iptables -L DOCKER-USER -n -v --line-numbers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Command cheat sheet: troubleshooting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4160520"/>
          </a:xfrm>
          <a:prstGeom prst="roundRect">
            <a:avLst/>
          </a:prstGeom>
          <a:solidFill>
            <a:srgbClr val="0D121C"/>
          </a:solidFill>
          <a:ln>
            <a:solidFill>
              <a:srgbClr val="28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09728" tIns="109728" bIns="109728"/>
          <a:lstStyle/>
          <a:p>
            <a:pPr algn="ctr">
              <a:defRPr sz="1320" b="1">
                <a:solidFill>
                  <a:srgbClr val="00B8D9"/>
                </a:solidFill>
                <a:latin typeface="Consolas"/>
              </a:defRPr>
            </a:pPr>
            <a:r>
              <a:t>Cheat sheet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docker ps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docker network inspect app-net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docker exec web ss -ltnp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conntrack -L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conntrack -E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tcpdump -ni any tcp port 8080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tcpdump -ni br-xxxx tcp port 80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ip route get &lt;destination&gt;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bridge fdb show</a:t>
            </a:r>
          </a:p>
          <a:p>
            <a:pPr>
              <a:defRPr sz="1320">
                <a:solidFill>
                  <a:srgbClr val="EBF5FF"/>
                </a:solidFill>
                <a:latin typeface="Consolas"/>
              </a:defRPr>
            </a:pPr>
            <a:r>
              <a:t>journalctl -k -f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647"/>
                </a:solidFill>
              </a:defRPr>
            </a:pPr>
            <a:r>
              <a:t>Final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A2647"/>
                </a:solidFill>
              </a:defRPr>
            </a:pPr>
            <a:r>
              <a:t>Container traffic is usually not special.</a:t>
            </a:r>
            <a:br/>
            <a:r>
              <a:t>It is Linux forwarded traffic with extra automation.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1828800" cy="594360"/>
          </a:xfrm>
          <a:prstGeom prst="roundRect">
            <a:avLst/>
          </a:prstGeom>
          <a:solidFill>
            <a:srgbClr val="E2F7EB"/>
          </a:solidFill>
          <a:ln w="16510"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141C26"/>
                </a:solidFill>
              </a:defRPr>
            </a:pPr>
            <a:r>
              <a:t>Outbound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81635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41C26"/>
                </a:solidFill>
              </a:defRPr>
            </a:pPr>
            <a:r>
              <a:t>FORWARD → POSTROUTING MASQUERADE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749039"/>
            <a:ext cx="1828800" cy="594360"/>
          </a:xfrm>
          <a:prstGeom prst="roundRect">
            <a:avLst/>
          </a:prstGeom>
          <a:solidFill>
            <a:srgbClr val="FFF0DC"/>
          </a:solidFill>
          <a:ln w="1651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141C26"/>
                </a:solidFill>
              </a:defRPr>
            </a:pPr>
            <a:r>
              <a:t>Inbound published 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22191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41C26"/>
                </a:solidFill>
              </a:defRPr>
            </a:pPr>
            <a:r>
              <a:t>PREROUTING DNAT → FORWARD →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54880"/>
            <a:ext cx="1828800" cy="594360"/>
          </a:xfrm>
          <a:prstGeom prst="roundRect">
            <a:avLst/>
          </a:prstGeom>
          <a:solidFill>
            <a:srgbClr val="E0F0FF"/>
          </a:solidFill>
          <a:ln w="16510">
            <a:solidFill>
              <a:srgbClr val="00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141C26"/>
                </a:solidFill>
              </a:defRPr>
            </a:pPr>
            <a:r>
              <a:t>Host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82803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41C26"/>
                </a:solidFill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B687C"/>
                </a:solidFill>
              </a:defRPr>
            </a:pPr>
            <a:r>
              <a:t>Iptables &amp; Linux Kernel Firewall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510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87C"/>
                </a:solidFill>
              </a:defRPr>
            </a:pPr>
            <a:r>
              <a:t>Linux Networking for Cisco Engineers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DE6FF"/>
                </a:solidFill>
              </a:defRPr>
            </a:pPr>
            <a:r>
              <a:t>Packet traversal + conntrack + NAT = Linux firewall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3977639"/>
            <a:ext cx="9784080" cy="731520"/>
          </a:xfrm>
          <a:prstGeom prst="roundRect">
            <a:avLst/>
          </a:prstGeom>
          <a:solidFill>
            <a:srgbClr val="0F466E"/>
          </a:solidFill>
          <a:ln w="16510">
            <a:solidFill>
              <a:srgbClr val="00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Follow the packet. Check the correct chain. Prove it with counters and captures.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